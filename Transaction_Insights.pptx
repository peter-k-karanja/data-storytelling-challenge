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4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08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TRANSACTION PATTERNS, CHANNELS &amp; DATA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14800" cy="932688"/>
          </a:xfrm>
          <a:prstGeom prst="rect">
            <a:avLst/>
          </a:prstGeom>
          <a:solidFill>
            <a:srgbClr val="1A0A2E"/>
          </a:solidFill>
          <a:ln w="19050">
            <a:solidFill>
              <a:srgbClr val="E5393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4864" cy="93268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</a:rPr>
              <a:t>INSIGHT 1 — Missing Timestamps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No transaction timestamps exist in the dataset, preventing hourly spend pattern analysis. Future datasets must include time data to unlock deeper behavioural insights.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828800"/>
            <a:ext cx="4114800" cy="932688"/>
          </a:xfrm>
          <a:prstGeom prst="rect">
            <a:avLst/>
          </a:prstGeom>
          <a:solidFill>
            <a:srgbClr val="1A0A2E"/>
          </a:solidFill>
          <a:ln w="19050">
            <a:solidFill>
              <a:srgbClr val="F9A8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54864" cy="9326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176"/>
                </a:solidFill>
              </a:rPr>
              <a:t>INSIGHT 2 — Data Completeness Warning (35.9%)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35.9% of records (all 'posted' rows) lack merchant location and card presence data. Insights from these fields derive from only ~64% of the dataset — interpret with caution.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852928"/>
            <a:ext cx="4114800" cy="932688"/>
          </a:xfrm>
          <a:prstGeom prst="rect">
            <a:avLst/>
          </a:prstGeom>
          <a:solidFill>
            <a:srgbClr val="1A0A2E"/>
          </a:solidFill>
          <a:ln w="19050">
            <a:solidFill>
              <a:srgbClr val="00ACC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852928"/>
            <a:ext cx="54864" cy="9326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DEEA"/>
                </a:solidFill>
              </a:rPr>
              <a:t>INSIGHT 4 — In-Store vs Online Preference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0998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80% of authorised transactions are card-present (physical), confirming a strong customer preference for in-store shopping over online channels.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877056"/>
            <a:ext cx="4114800" cy="1051560"/>
          </a:xfrm>
          <a:prstGeom prst="rect">
            <a:avLst/>
          </a:prstGeom>
          <a:solidFill>
            <a:srgbClr val="1A0A2E"/>
          </a:solidFill>
          <a:ln w="19050">
            <a:solidFill>
              <a:srgbClr val="66BB6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877056"/>
            <a:ext cx="54864" cy="105156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895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A7"/>
                </a:solidFill>
              </a:rPr>
              <a:t>INSIGHTS 5 &amp; 6 — Payroll &amp; Revenue Concentration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12394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PAY/SALARY avg $1,899/txn (highest of all types). Top 3 clients — Michael (22.49%), Kenneth &amp; Jessica — account for 45.5% of total revenue ($632,795 from top 10). High concentration risk demands client diversification.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26280" y="804672"/>
            <a:ext cx="4389120" cy="1874520"/>
          </a:xfrm>
          <a:prstGeom prst="rect">
            <a:avLst/>
          </a:prstGeom>
          <a:solidFill>
            <a:srgbClr val="1A0A2E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850392"/>
            <a:ext cx="4388158" cy="177393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26280" y="2697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0A4AE"/>
                </a:solidFill>
              </a:rPr>
              <a:t>📅  Daily Transaction Volume &amp; Day-of-Week Patterns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526280" y="2950722"/>
            <a:ext cx="4389120" cy="1959605"/>
          </a:xfrm>
          <a:prstGeom prst="rect">
            <a:avLst/>
          </a:prstGeom>
          <a:solidFill>
            <a:srgbClr val="1A0A2E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572000" y="493649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0A4AE"/>
                </a:solidFill>
              </a:rPr>
              <a:t> Transaction Type</a:t>
            </a:r>
            <a:endParaRPr lang="en-US" sz="75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606B30F-1A31-3C83-2264-195D9E5FB847}"/>
              </a:ext>
            </a:extLst>
          </p:cNvPr>
          <p:cNvCxnSpPr/>
          <p:nvPr/>
        </p:nvCxnSpPr>
        <p:spPr>
          <a:xfrm>
            <a:off x="4066162" y="1121923"/>
            <a:ext cx="505838" cy="22049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FB49D75C-E2F8-41BC-D9DF-40445C72D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3007107"/>
            <a:ext cx="4343400" cy="789039"/>
          </a:xfrm>
          <a:prstGeom prst="rect">
            <a:avLst/>
          </a:prstGeom>
        </p:spPr>
      </p:pic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7EAC628-480A-C4C8-E954-386E4014F3B4}"/>
              </a:ext>
            </a:extLst>
          </p:cNvPr>
          <p:cNvCxnSpPr/>
          <p:nvPr/>
        </p:nvCxnSpPr>
        <p:spPr>
          <a:xfrm>
            <a:off x="3907580" y="2276132"/>
            <a:ext cx="1157801" cy="1077965"/>
          </a:xfrm>
          <a:prstGeom prst="bentConnector3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B4FBA5D2-F2C0-8A32-0375-02B2639DF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1" y="3801705"/>
            <a:ext cx="2697151" cy="1075007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D29835A-6506-AD9C-AFDF-C5707949B0B8}"/>
              </a:ext>
            </a:extLst>
          </p:cNvPr>
          <p:cNvCxnSpPr>
            <a:cxnSpLocks/>
          </p:cNvCxnSpPr>
          <p:nvPr/>
        </p:nvCxnSpPr>
        <p:spPr>
          <a:xfrm>
            <a:off x="3670710" y="3011171"/>
            <a:ext cx="980231" cy="50261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FBBB60F-1B6F-75A7-83C2-1B0C82EDBCE4}"/>
              </a:ext>
            </a:extLst>
          </p:cNvPr>
          <p:cNvCxnSpPr/>
          <p:nvPr/>
        </p:nvCxnSpPr>
        <p:spPr>
          <a:xfrm>
            <a:off x="3203643" y="4009644"/>
            <a:ext cx="1679642" cy="278168"/>
          </a:xfrm>
          <a:prstGeom prst="bentConnector3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CUSTOMER BEHAVIOUR &amp; SPEND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14800" cy="1234440"/>
          </a:xfrm>
          <a:prstGeom prst="rect">
            <a:avLst/>
          </a:prstGeom>
          <a:solidFill>
            <a:srgbClr val="132743"/>
          </a:solidFill>
          <a:ln w="1905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4864" cy="1234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B5F6"/>
                </a:solidFill>
              </a:rPr>
              <a:t>INSIGHT 3 — Age Group Spending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Customers aged 18-28 drive the most transactions (5,924), yet the 48-57 age group leads in avg spend at $319.77 per transaction — older customers transact less but spend significantly more per visit.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148840"/>
            <a:ext cx="4114800" cy="1234440"/>
          </a:xfrm>
          <a:prstGeom prst="rect">
            <a:avLst/>
          </a:prstGeom>
          <a:solidFill>
            <a:srgbClr val="132743"/>
          </a:solidFill>
          <a:ln w="19050">
            <a:solidFill>
              <a:srgbClr val="43A0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2148840"/>
            <a:ext cx="54864" cy="1234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6A7"/>
                </a:solidFill>
              </a:rPr>
              <a:t>INSIGHT 7 — Gender Spend Patterns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Men average $205.72/txn ($1.29M total) vs women at $168.52/txn ($970K total). Despite fewer transactions, women form a sizeable spend volume — highlighting focused upselling opportunities for both demographics.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4114800" cy="1234440"/>
          </a:xfrm>
          <a:prstGeom prst="rect">
            <a:avLst/>
          </a:prstGeom>
          <a:solidFill>
            <a:srgbClr val="132743"/>
          </a:solidFill>
          <a:ln w="19050">
            <a:solidFill>
              <a:srgbClr val="FB8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3474720"/>
            <a:ext cx="54864" cy="12344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C80"/>
                </a:solidFill>
              </a:rPr>
              <a:t>INSIGHT 8 — Credit vs Debit Transactions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Credit txns (883) represent 74.08% of total value ($1.67M) — high-value purchases. Debit txns (11,160) are frequent but low-value. These distinct spending modes require different engagement strategies.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6280" y="804672"/>
            <a:ext cx="4389120" cy="1874520"/>
          </a:xfrm>
          <a:prstGeom prst="rect">
            <a:avLst/>
          </a:prstGeom>
          <a:solidFill>
            <a:srgbClr val="132743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850392"/>
            <a:ext cx="4297680" cy="1783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26280" y="2697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0A4AE"/>
                </a:solidFill>
              </a:rPr>
              <a:t>📊  Overall KPIs &amp; Transaction Type Breakdown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26280" y="2926080"/>
            <a:ext cx="4389120" cy="1920240"/>
          </a:xfrm>
          <a:prstGeom prst="rect">
            <a:avLst/>
          </a:prstGeom>
          <a:solidFill>
            <a:srgbClr val="132743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2971800"/>
            <a:ext cx="4297680" cy="1783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26280" y="48463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0A4AE"/>
                </a:solidFill>
              </a:rPr>
              <a:t>👥  Top Customers, Gender &amp; Age Group Spend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332</Words>
  <Application>Microsoft Office PowerPoint</Application>
  <PresentationFormat>On-screen Show (16:9)</PresentationFormat>
  <Paragraphs>22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Dataset Insights</dc:title>
  <dc:subject>PptxGenJS Presentation</dc:subject>
  <dc:creator>PptxGenJS</dc:creator>
  <cp:lastModifiedBy>Peter karanja</cp:lastModifiedBy>
  <cp:revision>3</cp:revision>
  <dcterms:created xsi:type="dcterms:W3CDTF">2026-03-19T16:08:08Z</dcterms:created>
  <dcterms:modified xsi:type="dcterms:W3CDTF">2026-03-19T16:40:43Z</dcterms:modified>
</cp:coreProperties>
</file>